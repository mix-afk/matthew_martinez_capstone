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2e966fe-2f70-508e-f8c2-b618ce3c2e5d}">
          <p14:sldIdLst>
            <p14:sldId id="256"/>
          </p14:sldIdLst>
        </p14:section>
        <p14:section name="Summary" id="{0503f440-0570-d26e-3bc9-f7a93f5b556f}">
          <p14:sldIdLst>
            <p14:sldId id="257"/>
          </p14:sldIdLst>
        </p14:section>
        <p14:section name="Problem and solution" id="{919e4218-d4a7-b264-2a6a-83287cff73e3}">
          <p14:sldIdLst>
            <p14:sldId id="258"/>
            <p14:sldId id="259"/>
          </p14:sldIdLst>
        </p14:section>
        <p14:section name="Results" id="{ae94e071-7242-bc0f-cba7-6cee1a748ffd}">
          <p14:sldIdLst>
            <p14:sldId id="260"/>
            <p14:sldId id="261"/>
          </p14:sldIdLst>
        </p14:section>
        <p14:section name="Business case" id="{1d774069-5a64-095e-43cd-2959e3ad2ce7}">
          <p14:sldIdLst>
            <p14:sldId id="262"/>
            <p14:sldId id="263"/>
          </p14:sldIdLst>
        </p14:section>
        <p14:section name="Strategy" id="{14a9f60e-878c-745d-083b-8f9e00022930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F5E5A"/>
                </a:solidFill>
                <a:latin typeface="+mn-lt"/>
              </a:rPr>
              <a:t>% of shoppers with at least one real purchase in their 12 (test week)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Shoppers with at least one real purchase in their 12</c:v>
                </c:pt>
              </c:strCache>
            </c:strRef>
          </c:tx>
          <c:spPr>
            <a:solidFill>
              <a:srgbClr val="B9B4C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917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4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4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F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Best-seller list</c:v>
                  </c:pt>
                  <c:pt idx="1">
                    <c:v>Buy again list</c:v>
                  </c:pt>
                  <c:pt idx="2">
                    <c:v>Our model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7.1</c:v>
                </c:pt>
                <c:pt idx="1">
                  <c:v>11.2</c:v>
                </c:pt>
                <c:pt idx="2">
                  <c:v>13.1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917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 view of my capstone: a recommender that picks 12 products per shopper for next week, built and tested on two years of real H&amp;M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numbers. The model is 3.3 times better on the competition metric. In plain terms, 13 out of 100 shoppers find something they actually buy in their 12 picks, vs 7 with best sellers. The risk: the model still favors top sellers, which matters for smaller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a lack of products, it's picking the right 12 for each person. Generic lists waste the most valuable space on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one is cheap rules and simple models that each suggest a few items. Step two is the smart part: one model scores every suggestion on how likely this person is to buy it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a week the model never saw. The gain comes from shoppers with history. For brand-new shoppers it falls back to best sellers.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comes from SHAP, which tells us for each recommendation how much each factor contributed. Nothing here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inputs only. 200,000 sessions x 60% = 120,000 sessions see the row. At 1.0% that's 1,200 orders from the row. Offline the model lifts hit rate by 84% (13.1% vs 7.1%). If a quarter of that shows up online, +21% = about 250 more orders, about 200,000 pesos at 800 per order. If half, +42%, about 500 orders and 400,000 pesos. The A/B test tells us the real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bias audit found two real issues. Younger shoppers get weaker recommendations because they buy more new things. And popular items dominate. Both have cheap fixes that we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Dynamix is an end-to-end e-commerce enabler based in Quezon City, Philippines that helps brands grow and convert on Shopee, Lazada, and TikTok Shop. These are the places a recommender would pay off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small: one brand, six weeks, a clean A/B test, and a go or no-go based on the KPIs we agreed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9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E8EFF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Product recommendations · capstone business brief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Smarter "You may also like": personal picks for every shopper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E8EFF"/>
                </a:solidFill>
              </a:rPr>
              <a:t>Capstone business brief · Matthew Martinez · October 2026</a:t>
            </a:r>
            <a:endParaRPr lang="en-US" sz="1500" dirty="0"/>
          </a:p>
        </p:txBody>
      </p:sp>
      <p:sp>
        <p:nvSpPr>
          <p:cNvPr id="4" name="motif"/>
          <p:cNvSpPr/>
          <p:nvPr/>
        </p:nvSpPr>
        <p:spPr>
          <a:xfrm>
            <a:off x="7818120" y="411480"/>
            <a:ext cx="777240" cy="777240"/>
          </a:xfrm>
          <a:prstGeom prst="ellipse">
            <a:avLst/>
          </a:prstGeom>
          <a:solidFill>
            <a:srgbClr val="C2E812"/>
          </a:solidFill>
          <a:ln w="12700">
            <a:solidFill>
              <a:srgbClr val="C2E8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1812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Personal picks beat the best-seller list by a wide margin</a:t>
            </a:r>
            <a:endParaRPr lang="en-US" sz="2400" dirty="0"/>
          </a:p>
        </p:txBody>
      </p:sp>
      <p:sp>
        <p:nvSpPr>
          <p:cNvPr id="3" name="stat0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3.3×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at predicting next-week purchases than a best-seller list (MAP@12, test week)</a:t>
            </a:r>
            <a:endParaRPr lang="en-US" sz="1300" dirty="0"/>
          </a:p>
        </p:txBody>
      </p:sp>
      <p:sp>
        <p:nvSpPr>
          <p:cNvPr id="6" name="stat1"/>
          <p:cNvSpPr/>
          <p:nvPr/>
        </p:nvSpPr>
        <p:spPr>
          <a:xfrm>
            <a:off x="324612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shoppers got at least one item they really bought, vs 7.1% with best sellers</a:t>
            </a:r>
            <a:endParaRPr lang="en-US" sz="1300" dirty="0"/>
          </a:p>
        </p:txBody>
      </p:sp>
      <p:sp>
        <p:nvSpPr>
          <p:cNvPr id="9" name="stat2"/>
          <p:cNvSpPr/>
          <p:nvPr/>
        </p:nvSpPr>
        <p:spPr>
          <a:xfrm>
            <a:off x="6035040" y="12344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1F4E6"/>
          </a:solidFill>
          <a:ln w="12700">
            <a:solidFill>
              <a:srgbClr val="F1F4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78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slots still go to top sellers. Smaller items barely show: the main thing to fix</a:t>
            </a:r>
            <a:endParaRPr lang="en-US" sz="1300" dirty="0"/>
          </a:p>
        </p:txBody>
      </p:sp>
      <p:sp>
        <p:nvSpPr>
          <p:cNvPr id="12" name="ask"/>
          <p:cNvSpPr/>
          <p:nvPr/>
        </p:nvSpPr>
        <p:spPr>
          <a:xfrm>
            <a:off x="457200" y="3611880"/>
            <a:ext cx="8183880" cy="868680"/>
          </a:xfrm>
          <a:prstGeom prst="roundRect">
            <a:avLst>
              <a:gd name="adj" fmla="val 8421"/>
            </a:avLst>
          </a:prstGeom>
          <a:solidFill>
            <a:srgbClr val="191717"/>
          </a:solidFill>
          <a:ln w="12700">
            <a:solidFill>
              <a:srgbClr val="1917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E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</a:t>
            </a:r>
            <a:pPr indent="0" marL="0">
              <a:buNone/>
            </a:pPr>
            <a:r>
              <a:rPr lang="en-US" sz="1500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6-week pilot with one brand and A/B test it against the best-seller list.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Today every shopper sees the same 12 best sellers</a:t>
            </a:r>
            <a:endParaRPr lang="en-US" sz="2400" dirty="0"/>
          </a:p>
        </p:txBody>
      </p:sp>
      <p:sp>
        <p:nvSpPr>
          <p:cNvPr id="3" name="num0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list for everyone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9047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"You may also like" row, app home and promo emails show the same top sellers to every shopper</a:t>
            </a:r>
            <a:endParaRPr lang="en-US" sz="1300" dirty="0"/>
          </a:p>
        </p:txBody>
      </p:sp>
      <p:sp>
        <p:nvSpPr>
          <p:cNvPr id="7" name="num1"/>
          <p:cNvSpPr/>
          <p:nvPr/>
        </p:nvSpPr>
        <p:spPr>
          <a:xfrm>
            <a:off x="502920" y="2286000"/>
            <a:ext cx="548640" cy="548640"/>
          </a:xfrm>
          <a:prstGeom prst="ellipse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40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slots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877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shoppers have already seen or bought those items, so the slot sells little</a:t>
            </a:r>
            <a:endParaRPr lang="en-US" sz="1300" dirty="0"/>
          </a:p>
        </p:txBody>
      </p:sp>
      <p:sp>
        <p:nvSpPr>
          <p:cNvPr id="11" name="num2"/>
          <p:cNvSpPr/>
          <p:nvPr/>
        </p:nvSpPr>
        <p:spPr>
          <a:xfrm>
            <a:off x="502920" y="3383280"/>
            <a:ext cx="548640" cy="548640"/>
          </a:xfrm>
          <a:prstGeom prst="ellipse">
            <a:avLst/>
          </a:prstGeom>
          <a:solidFill>
            <a:srgbClr val="7B3FB0"/>
          </a:solidFill>
          <a:ln w="12700">
            <a:solidFill>
              <a:srgbClr val="7B3F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37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items stay hidden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85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 of what people actually buy is outside the top 20% sellers, but those items rarely get a slot</a:t>
            </a:r>
            <a:endParaRPr lang="en-US" sz="1300" dirty="0"/>
          </a:p>
        </p:txBody>
      </p:sp>
      <p:sp>
        <p:nvSpPr>
          <p:cNvPr id="15" name="data"/>
          <p:cNvSpPr/>
          <p:nvPr/>
        </p:nvSpPr>
        <p:spPr>
          <a:xfrm>
            <a:off x="5669280" y="1188720"/>
            <a:ext cx="2971800" cy="3246120"/>
          </a:xfrm>
          <a:prstGeom prst="roundRect">
            <a:avLst>
              <a:gd name="adj" fmla="val 246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behind this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17373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31.8M purchases over 2 years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1.37M shoppers, 105k products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H&amp;M data, public on Kaggle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 week the model never saw: 14,023 shoppers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it works: narrow down, then rank</a:t>
            </a:r>
            <a:endParaRPr lang="en-US" sz="2400" dirty="0"/>
          </a:p>
        </p:txBody>
      </p:sp>
      <p:sp>
        <p:nvSpPr>
          <p:cNvPr id="3" name="step0"/>
          <p:cNvSpPr/>
          <p:nvPr/>
        </p:nvSpPr>
        <p:spPr>
          <a:xfrm>
            <a:off x="457200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105,542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in the catalog</a:t>
            </a:r>
            <a:endParaRPr lang="en-US" sz="1200" dirty="0"/>
          </a:p>
        </p:txBody>
      </p:sp>
      <p:sp>
        <p:nvSpPr>
          <p:cNvPr id="6" name="arrow0"/>
          <p:cNvSpPr/>
          <p:nvPr/>
        </p:nvSpPr>
        <p:spPr>
          <a:xfrm>
            <a:off x="3017520" y="2011680"/>
            <a:ext cx="201168" cy="365760"/>
          </a:xfrm>
          <a:prstGeom prst="chevron">
            <a:avLst/>
          </a:prstGeom>
          <a:solidFill>
            <a:srgbClr val="878E76"/>
          </a:solidFill>
          <a:ln w="12700">
            <a:solidFill>
              <a:srgbClr val="878E76"/>
            </a:solidFill>
            <a:prstDash val="solid"/>
          </a:ln>
        </p:spPr>
      </p:sp>
      <p:sp>
        <p:nvSpPr>
          <p:cNvPr id="7" name="step1"/>
          <p:cNvSpPr/>
          <p:nvPr/>
        </p:nvSpPr>
        <p:spPr>
          <a:xfrm>
            <a:off x="3291840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031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per shopper from 7 simple methods: best sellers, buy again, other colors, bought together, similar taste</a:t>
            </a:r>
            <a:endParaRPr lang="en-US" sz="1200" dirty="0"/>
          </a:p>
        </p:txBody>
      </p:sp>
      <p:sp>
        <p:nvSpPr>
          <p:cNvPr id="10" name="arrow1"/>
          <p:cNvSpPr/>
          <p:nvPr/>
        </p:nvSpPr>
        <p:spPr>
          <a:xfrm>
            <a:off x="5852160" y="2011680"/>
            <a:ext cx="201168" cy="365760"/>
          </a:xfrm>
          <a:prstGeom prst="chevron">
            <a:avLst/>
          </a:prstGeom>
          <a:solidFill>
            <a:srgbClr val="878E76"/>
          </a:solidFill>
          <a:ln w="12700">
            <a:solidFill>
              <a:srgbClr val="878E76"/>
            </a:solidFill>
            <a:prstDash val="solid"/>
          </a:ln>
        </p:spPr>
      </p:sp>
      <p:sp>
        <p:nvSpPr>
          <p:cNvPr id="11" name="step2"/>
          <p:cNvSpPr/>
          <p:nvPr/>
        </p:nvSpPr>
        <p:spPr>
          <a:xfrm>
            <a:off x="6126480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91717"/>
          </a:solidFill>
          <a:ln w="12700">
            <a:solidFill>
              <a:srgbClr val="1917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E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031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picks per shopper, ranked by a machine learning model, each with a one-line reason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reasons shoppers see</a:t>
            </a:r>
            <a:endParaRPr lang="en-US" sz="1300" dirty="0"/>
          </a:p>
        </p:txBody>
      </p:sp>
      <p:sp>
        <p:nvSpPr>
          <p:cNvPr id="15" name="chip0"/>
          <p:cNvSpPr/>
          <p:nvPr/>
        </p:nvSpPr>
        <p:spPr>
          <a:xfrm>
            <a:off x="457200" y="37490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chipline0"/>
          <p:cNvSpPr/>
          <p:nvPr/>
        </p:nvSpPr>
        <p:spPr>
          <a:xfrm>
            <a:off x="457200" y="37490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color of something you already love</a:t>
            </a:r>
            <a:endParaRPr lang="en-US" sz="1200" dirty="0"/>
          </a:p>
        </p:txBody>
      </p:sp>
      <p:sp>
        <p:nvSpPr>
          <p:cNvPr id="18" name="chip1"/>
          <p:cNvSpPr/>
          <p:nvPr/>
        </p:nvSpPr>
        <p:spPr>
          <a:xfrm>
            <a:off x="3246120" y="37490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hipline1"/>
          <p:cNvSpPr/>
          <p:nvPr/>
        </p:nvSpPr>
        <p:spPr>
          <a:xfrm>
            <a:off x="3246120" y="37490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now: sales are climbing this week</a:t>
            </a:r>
            <a:endParaRPr lang="en-US" sz="1200" dirty="0"/>
          </a:p>
        </p:txBody>
      </p:sp>
      <p:sp>
        <p:nvSpPr>
          <p:cNvPr id="21" name="chip2"/>
          <p:cNvSpPr/>
          <p:nvPr/>
        </p:nvSpPr>
        <p:spPr>
          <a:xfrm>
            <a:off x="6035040" y="37490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chipline2"/>
          <p:cNvSpPr/>
          <p:nvPr/>
        </p:nvSpPr>
        <p:spPr>
          <a:xfrm>
            <a:off x="6035040" y="374904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bought together with your past picks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Almost twice as many shoppers find something they buy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warm"/>
          <p:cNvSpPr/>
          <p:nvPr/>
        </p:nvSpPr>
        <p:spPr>
          <a:xfrm>
            <a:off x="5669280" y="114300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4.4×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shoppers: the model scores 4.4 times the best-seller list</a:t>
            </a:r>
            <a:endParaRPr lang="en-US" sz="1200" dirty="0"/>
          </a:p>
        </p:txBody>
      </p:sp>
      <p:sp>
        <p:nvSpPr>
          <p:cNvPr id="7" name="cold"/>
          <p:cNvSpPr/>
          <p:nvPr/>
        </p:nvSpPr>
        <p:spPr>
          <a:xfrm>
            <a:off x="5669280" y="288036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1F4E6"/>
          </a:solidFill>
          <a:ln w="12700">
            <a:solidFill>
              <a:srgbClr val="F1F4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2971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78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566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shoppers (38%): no history yet, so they get best sellers. That is the next thing to improve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What drives a pick, in plain words</a:t>
            </a:r>
            <a:endParaRPr lang="en-US" sz="2400" dirty="0"/>
          </a:p>
        </p:txBody>
      </p:sp>
      <p:sp>
        <p:nvSpPr>
          <p:cNvPr id="3" name="driver0"/>
          <p:cNvSpPr/>
          <p:nvPr/>
        </p:nvSpPr>
        <p:spPr>
          <a:xfrm>
            <a:off x="457200" y="11887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685800" y="1481328"/>
            <a:ext cx="640080" cy="640080"/>
          </a:xfrm>
          <a:prstGeom prst="ellipse">
            <a:avLst/>
          </a:prstGeom>
          <a:solidFill>
            <a:srgbClr val="C2E812"/>
          </a:solidFill>
          <a:ln w="12700">
            <a:solidFill>
              <a:srgbClr val="C2E8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selling now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week's sales and items whose sales are climbing</a:t>
            </a:r>
            <a:endParaRPr lang="en-US" sz="1200" dirty="0"/>
          </a:p>
        </p:txBody>
      </p:sp>
      <p:sp>
        <p:nvSpPr>
          <p:cNvPr id="8" name="driver1"/>
          <p:cNvSpPr/>
          <p:nvPr/>
        </p:nvSpPr>
        <p:spPr>
          <a:xfrm>
            <a:off x="4617720" y="11887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9" name="dot1"/>
          <p:cNvSpPr/>
          <p:nvPr/>
        </p:nvSpPr>
        <p:spPr>
          <a:xfrm>
            <a:off x="4846320" y="1481328"/>
            <a:ext cx="640080" cy="640080"/>
          </a:xfrm>
          <a:prstGeom prst="ellipse">
            <a:avLst/>
          </a:prstGeom>
          <a:solidFill>
            <a:srgbClr val="CE8E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81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item, new color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755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liked a cut, you often buy it again in another color</a:t>
            </a:r>
            <a:endParaRPr lang="en-US" sz="1200" dirty="0"/>
          </a:p>
        </p:txBody>
      </p:sp>
      <p:sp>
        <p:nvSpPr>
          <p:cNvPr id="13" name="driver2"/>
          <p:cNvSpPr/>
          <p:nvPr/>
        </p:nvSpPr>
        <p:spPr>
          <a:xfrm>
            <a:off x="457200" y="26060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4" name="dot2"/>
          <p:cNvSpPr/>
          <p:nvPr/>
        </p:nvSpPr>
        <p:spPr>
          <a:xfrm>
            <a:off x="685800" y="2898648"/>
            <a:ext cx="640080" cy="640080"/>
          </a:xfrm>
          <a:prstGeom prst="ellipse">
            <a:avLst/>
          </a:prstGeom>
          <a:solidFill>
            <a:srgbClr val="CE8E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98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recent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you bought days ago, and shoppers who were active recently</a:t>
            </a:r>
            <a:endParaRPr lang="en-US" sz="1200" dirty="0"/>
          </a:p>
        </p:txBody>
      </p:sp>
      <p:sp>
        <p:nvSpPr>
          <p:cNvPr id="18" name="driver3"/>
          <p:cNvSpPr/>
          <p:nvPr/>
        </p:nvSpPr>
        <p:spPr>
          <a:xfrm>
            <a:off x="4617720" y="26060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9" name="dot3"/>
          <p:cNvSpPr/>
          <p:nvPr/>
        </p:nvSpPr>
        <p:spPr>
          <a:xfrm>
            <a:off x="4846320" y="2898648"/>
            <a:ext cx="640080" cy="640080"/>
          </a:xfrm>
          <a:prstGeom prst="ellipse">
            <a:avLst/>
          </a:prstGeom>
          <a:solidFill>
            <a:srgbClr val="CE8E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98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types, colors and price range you usually buy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pick can be explained: we measure exactly how much each factor pushed it up or down (SHAP).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Pilot math: what a lift could be worth for one brand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84632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(example, replace with the pilot brand's numbers)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B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store sessions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Sessions that see the recommendation row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 from the row today (best sellers)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 of those sessions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order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₱800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lift in hit rate (measured)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servative"/>
          <p:cNvSpPr/>
          <p:nvPr/>
        </p:nvSpPr>
        <p:spPr>
          <a:xfrm>
            <a:off x="5577840" y="11430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216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1/4 of the lift shows up online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+₱200k / month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 orders (+21%)</a:t>
            </a:r>
            <a:endParaRPr lang="en-US" sz="1200" dirty="0"/>
          </a:p>
        </p:txBody>
      </p:sp>
      <p:sp>
        <p:nvSpPr>
          <p:cNvPr id="8" name="expected"/>
          <p:cNvSpPr/>
          <p:nvPr/>
        </p:nvSpPr>
        <p:spPr>
          <a:xfrm>
            <a:off x="5577840" y="269748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191717"/>
          </a:solidFill>
          <a:ln w="12700">
            <a:solidFill>
              <a:srgbClr val="1917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1/2 of the lift shows up online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E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+₱400k / month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+500 orders (+42%)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not a forecast. Offline accuracy does not turn into sales one to one, which is why the pilot is an A/B test. Running cost is low: one small server and a nightly batch job.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Risks we found, and how we handle them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found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Popular items take over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of slots go to the top 20% sellers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1 to 2 slots for newer and smaller items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Younger shoppers get weaker picks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Ages 16 to 24 score 26% lower than 55+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age from the model (costs 0.8% accuracy, narrows the gap); track it weekly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shoppers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 have no recent history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sellers for now; add first-visit signals 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purchase history and 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personal data in reasons; opt-out of personalization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vs real life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offline on past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 test before rollout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How Dynamix would put it to work</a:t>
            </a:r>
            <a:endParaRPr lang="en-US" sz="2400" dirty="0"/>
          </a:p>
        </p:txBody>
      </p:sp>
      <p:sp>
        <p:nvSpPr>
          <p:cNvPr id="3" name="use0"/>
          <p:cNvSpPr/>
          <p:nvPr/>
        </p:nvSpPr>
        <p:spPr>
          <a:xfrm>
            <a:off x="457200" y="11430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and add-on deals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"Bought together" pairs pick the add-on for each hero item</a:t>
            </a:r>
            <a:endParaRPr lang="en-US" sz="1200" dirty="0"/>
          </a:p>
        </p:txBody>
      </p:sp>
      <p:sp>
        <p:nvSpPr>
          <p:cNvPr id="6" name="use1"/>
          <p:cNvSpPr/>
          <p:nvPr/>
        </p:nvSpPr>
        <p:spPr>
          <a:xfrm>
            <a:off x="4617720" y="11430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1F4E6"/>
          </a:solidFill>
          <a:ln w="12700">
            <a:solidFill>
              <a:srgbClr val="F1F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selling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items to flex and which colors to show, from what's trending and what viewers already own</a:t>
            </a:r>
            <a:endParaRPr lang="en-US" sz="1200" dirty="0"/>
          </a:p>
        </p:txBody>
      </p:sp>
      <p:sp>
        <p:nvSpPr>
          <p:cNvPr id="9" name="use2"/>
          <p:cNvSpPr/>
          <p:nvPr/>
        </p:nvSpPr>
        <p:spPr>
          <a:xfrm>
            <a:off x="457200" y="26060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1F4E6"/>
          </a:solidFill>
          <a:ln w="12700">
            <a:solidFill>
              <a:srgbClr val="F1F4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timing and emails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12-item picks in pre-campaign emails and push messages</a:t>
            </a:r>
            <a:endParaRPr lang="en-US" sz="1200" dirty="0"/>
          </a:p>
        </p:txBody>
      </p:sp>
      <p:sp>
        <p:nvSpPr>
          <p:cNvPr id="12" name="use3"/>
          <p:cNvSpPr/>
          <p:nvPr/>
        </p:nvSpPr>
        <p:spPr>
          <a:xfrm>
            <a:off x="4617720" y="26060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reporting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segment buys next, to plan stock and promos/offers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plug into a brand's Shopee, Lazada and TikTok Shop order data, one brand at a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2"/>
                </a:solidFill>
              </a:rPr>
              <a:t>Next: a 6-week pilot with one brand</a:t>
            </a:r>
            <a:endParaRPr lang="en-US" sz="3400" dirty="0"/>
          </a:p>
        </p:txBody>
      </p:sp>
      <p:sp>
        <p:nvSpPr>
          <p:cNvPr id="3" name="phase0"/>
          <p:cNvSpPr/>
          <p:nvPr/>
        </p:nvSpPr>
        <p:spPr>
          <a:xfrm>
            <a:off x="548640" y="3154680"/>
            <a:ext cx="274320" cy="274320"/>
          </a:xfrm>
          <a:prstGeom prst="ellipse">
            <a:avLst/>
          </a:prstGeom>
          <a:solidFill>
            <a:srgbClr val="CE8E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 to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one brand's order data, re-run the backtest</a:t>
            </a:r>
            <a:endParaRPr lang="en-US" sz="1200" dirty="0"/>
          </a:p>
        </p:txBody>
      </p:sp>
      <p:sp>
        <p:nvSpPr>
          <p:cNvPr id="6" name="phase1"/>
          <p:cNvSpPr/>
          <p:nvPr/>
        </p:nvSpPr>
        <p:spPr>
          <a:xfrm>
            <a:off x="3291840" y="3154680"/>
            <a:ext cx="274320" cy="274320"/>
          </a:xfrm>
          <a:prstGeom prst="ellipse">
            <a:avLst/>
          </a:prstGeom>
          <a:solidFill>
            <a:srgbClr val="CE8EFF"/>
          </a:solidFill>
          <a:ln w="12700">
            <a:solidFill>
              <a:srgbClr val="CE8E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 to 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personal picks vs best sellers in emails and the store row</a:t>
            </a:r>
            <a:endParaRPr lang="en-US" sz="1200" dirty="0"/>
          </a:p>
        </p:txBody>
      </p:sp>
      <p:sp>
        <p:nvSpPr>
          <p:cNvPr id="9" name="phase2"/>
          <p:cNvSpPr/>
          <p:nvPr/>
        </p:nvSpPr>
        <p:spPr>
          <a:xfrm>
            <a:off x="6035040" y="3154680"/>
            <a:ext cx="274320" cy="274320"/>
          </a:xfrm>
          <a:prstGeom prst="ellipse">
            <a:avLst/>
          </a:prstGeom>
          <a:solidFill>
            <a:srgbClr val="C2E812"/>
          </a:solidFill>
          <a:ln w="12700">
            <a:solidFill>
              <a:srgbClr val="C2E8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or no-go on click-through, conversion, order value, fairness checks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E8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needed: </a:t>
            </a:r>
            <a:pPr indent="0" marL="0">
              <a:buNone/>
            </a:pPr>
            <a:r>
              <a:rPr lang="en-US" sz="1500" dirty="0">
                <a:solidFill>
                  <a:srgbClr val="FA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pilot brand and approve the 6-week A/B test.</a:t>
            </a:r>
            <a:endParaRPr lang="en-US" sz="15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548640" y="2834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namix Capstone">
  <a:themeElements>
    <a:clrScheme name="Dynamix Capstone">
      <a:dk1>
        <a:srgbClr val="191717"/>
      </a:dk1>
      <a:lt1>
        <a:srgbClr val="FFFFFF"/>
      </a:lt1>
      <a:dk2>
        <a:srgbClr val="2E2A2A"/>
      </a:dk2>
      <a:lt2>
        <a:srgbClr val="FAFAFF"/>
      </a:lt2>
      <a:accent1>
        <a:srgbClr val="7B3FB0"/>
      </a:accent1>
      <a:accent2>
        <a:srgbClr val="C2E812"/>
      </a:accent2>
      <a:accent3>
        <a:srgbClr val="878E76"/>
      </a:accent3>
      <a:accent4>
        <a:srgbClr val="CE8EFF"/>
      </a:accent4>
      <a:accent5>
        <a:srgbClr val="5F5E5A"/>
      </a:accent5>
      <a:accent6>
        <a:srgbClr val="E9E4F2"/>
      </a:accent6>
      <a:hlink>
        <a:srgbClr val="7B3FB0"/>
      </a:hlink>
      <a:folHlink>
        <a:srgbClr val="5B2E86"/>
      </a:folHlink>
    </a:clrScheme>
    <a:fontScheme name="Dynamix Capsto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recommendations: business brief</dc:title>
  <dc:subject>PptxGenJS Presentation</dc:subject>
  <dc:creator>Matthew Martinez</dc:creator>
  <cp:lastModifiedBy>Matthew Martinez</cp:lastModifiedBy>
  <cp:revision>1</cp:revision>
  <dcterms:created xsi:type="dcterms:W3CDTF">2026-10-07T17:42:36Z</dcterms:created>
  <dcterms:modified xsi:type="dcterms:W3CDTF">2026-10-07T17:42:36Z</dcterms:modified>
</cp:coreProperties>
</file>